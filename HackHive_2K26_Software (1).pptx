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Bell MT" panose="02020503060305020303" pitchFamily="18" charset="0"/>
      <p:regular r:id="rId9"/>
      <p:bold r:id="rId10"/>
      <p:italic r:id="rId11"/>
    </p:embeddedFont>
    <p:embeddedFont>
      <p:font typeface="Canva Sans Bold" panose="020B0604020202020204" charset="0"/>
      <p:regular r:id="rId12"/>
    </p:embeddedFont>
    <p:embeddedFont>
      <p:font typeface="TT Supermolot Neue" panose="020B0604020202020204" charset="0"/>
      <p:regular r:id="rId13"/>
    </p:embeddedFont>
    <p:embeddedFont>
      <p:font typeface="TT Supermolot Neue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50588" y="3676048"/>
            <a:ext cx="8586824" cy="131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4"/>
              </a:lnSpc>
            </a:pPr>
            <a:r>
              <a:rPr lang="en-US" sz="7667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HACK</a:t>
            </a:r>
            <a:r>
              <a:rPr lang="en-US" sz="7667" b="1" dirty="0">
                <a:solidFill>
                  <a:srgbClr val="FFFF00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HIVE</a:t>
            </a:r>
            <a:r>
              <a:rPr lang="en-US" sz="7667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- 2</a:t>
            </a:r>
            <a:r>
              <a:rPr lang="en-US" sz="7667" b="1" dirty="0">
                <a:solidFill>
                  <a:srgbClr val="FFFF00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K</a:t>
            </a:r>
            <a:r>
              <a:rPr lang="en-US" sz="7667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4045" y="5488172"/>
            <a:ext cx="6784959" cy="623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0"/>
              </a:lnSpc>
            </a:pPr>
            <a:r>
              <a:rPr lang="en-US" sz="3586" spc="663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COLLEGE NAME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8303" y="6301954"/>
            <a:ext cx="10532946" cy="3403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lang="en-US" sz="324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POBLEM STATEMENT ID :</a:t>
            </a:r>
          </a:p>
          <a:p>
            <a:pPr algn="l">
              <a:lnSpc>
                <a:spcPts val="4537"/>
              </a:lnSpc>
            </a:pPr>
            <a:r>
              <a:rPr lang="en-US" sz="324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PROBLEM STATEMENT TITLE  :</a:t>
            </a:r>
          </a:p>
          <a:p>
            <a:pPr algn="l">
              <a:lnSpc>
                <a:spcPts val="4537"/>
              </a:lnSpc>
            </a:pPr>
            <a:r>
              <a:rPr lang="en-US" sz="324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PS CATEGORY :</a:t>
            </a:r>
          </a:p>
          <a:p>
            <a:pPr algn="l">
              <a:lnSpc>
                <a:spcPts val="4537"/>
              </a:lnSpc>
            </a:pPr>
            <a:r>
              <a:rPr lang="en-US" sz="324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THEME :</a:t>
            </a:r>
          </a:p>
          <a:p>
            <a:pPr algn="l">
              <a:lnSpc>
                <a:spcPts val="4537"/>
              </a:lnSpc>
            </a:pPr>
            <a:r>
              <a:rPr lang="en-US" sz="324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TEAM ID :</a:t>
            </a:r>
          </a:p>
          <a:p>
            <a:pPr marL="0" lvl="0" indent="0" algn="l">
              <a:lnSpc>
                <a:spcPts val="4537"/>
              </a:lnSpc>
              <a:spcBef>
                <a:spcPct val="0"/>
              </a:spcBef>
            </a:pPr>
            <a:r>
              <a:rPr lang="en-US" sz="324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TEAM NAME 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0EF34C-7A70-3AF3-2E15-9593FA4CD9D2}"/>
              </a:ext>
            </a:extLst>
          </p:cNvPr>
          <p:cNvGrpSpPr/>
          <p:nvPr/>
        </p:nvGrpSpPr>
        <p:grpSpPr>
          <a:xfrm>
            <a:off x="152400" y="537149"/>
            <a:ext cx="18019114" cy="2795996"/>
            <a:chOff x="-412394" y="194249"/>
            <a:chExt cx="18019769" cy="279599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B0BEFFF-2C98-9B6F-8E4E-AD326A57118A}"/>
                </a:ext>
              </a:extLst>
            </p:cNvPr>
            <p:cNvGrpSpPr/>
            <p:nvPr/>
          </p:nvGrpSpPr>
          <p:grpSpPr>
            <a:xfrm>
              <a:off x="-412394" y="194249"/>
              <a:ext cx="18019769" cy="1883109"/>
              <a:chOff x="-1707795" y="89071"/>
              <a:chExt cx="18019769" cy="188310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0422577-FE2F-C565-3D23-E3913EAEA6E5}"/>
                  </a:ext>
                </a:extLst>
              </p:cNvPr>
              <p:cNvGrpSpPr/>
              <p:nvPr/>
            </p:nvGrpSpPr>
            <p:grpSpPr>
              <a:xfrm>
                <a:off x="-1707795" y="182162"/>
                <a:ext cx="1440052" cy="1440000"/>
                <a:chOff x="-2132637" y="181150"/>
                <a:chExt cx="1602971" cy="1421760"/>
              </a:xfrm>
            </p:grpSpPr>
            <p:sp>
              <p:nvSpPr>
                <p:cNvPr id="20" name="Freeform 26">
                  <a:extLst>
                    <a:ext uri="{FF2B5EF4-FFF2-40B4-BE49-F238E27FC236}">
                      <a16:creationId xmlns:a16="http://schemas.microsoft.com/office/drawing/2014/main" id="{5D752123-DE3A-737A-7A03-A1B174C2DAAE}"/>
                    </a:ext>
                  </a:extLst>
                </p:cNvPr>
                <p:cNvSpPr/>
                <p:nvPr/>
              </p:nvSpPr>
              <p:spPr>
                <a:xfrm>
                  <a:off x="-2132637" y="181150"/>
                  <a:ext cx="1602971" cy="1421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blipFill>
                  <a:blip r:embed="rId3"/>
                  <a:stretch>
                    <a:fillRect l="-2803" r="-2803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endParaRPr lang="en-IN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05C416A-CD03-3CE8-964F-EDB2316EEE86}"/>
                  </a:ext>
                </a:extLst>
              </p:cNvPr>
              <p:cNvGrpSpPr/>
              <p:nvPr/>
            </p:nvGrpSpPr>
            <p:grpSpPr>
              <a:xfrm>
                <a:off x="14871921" y="89071"/>
                <a:ext cx="1440053" cy="1440000"/>
                <a:chOff x="19144957" y="99394"/>
                <a:chExt cx="1737000" cy="1540634"/>
              </a:xfrm>
            </p:grpSpPr>
            <p:sp>
              <p:nvSpPr>
                <p:cNvPr id="19" name="Freeform 28">
                  <a:extLst>
                    <a:ext uri="{FF2B5EF4-FFF2-40B4-BE49-F238E27FC236}">
                      <a16:creationId xmlns:a16="http://schemas.microsoft.com/office/drawing/2014/main" id="{3AF1B2D8-B8D0-FD7B-DB12-DC46301CC78D}"/>
                    </a:ext>
                  </a:extLst>
                </p:cNvPr>
                <p:cNvSpPr/>
                <p:nvPr/>
              </p:nvSpPr>
              <p:spPr>
                <a:xfrm>
                  <a:off x="19144957" y="99394"/>
                  <a:ext cx="1737000" cy="1540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blipFill>
                  <a:blip r:embed="rId4"/>
                  <a:stretch>
                    <a:fillRect t="-1904" b="-1904"/>
                  </a:stretch>
                </a:blipFill>
                <a:ln w="19050" cap="sq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IN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DEA6C58-5DD9-6F07-9378-A1C44FADD20B}"/>
                  </a:ext>
                </a:extLst>
              </p:cNvPr>
              <p:cNvGrpSpPr/>
              <p:nvPr/>
            </p:nvGrpSpPr>
            <p:grpSpPr>
              <a:xfrm>
                <a:off x="-31334" y="164222"/>
                <a:ext cx="1440053" cy="1440000"/>
                <a:chOff x="-201" y="161106"/>
                <a:chExt cx="1592750" cy="1412690"/>
              </a:xfrm>
            </p:grpSpPr>
            <p:sp>
              <p:nvSpPr>
                <p:cNvPr id="18" name="Freeform 30">
                  <a:extLst>
                    <a:ext uri="{FF2B5EF4-FFF2-40B4-BE49-F238E27FC236}">
                      <a16:creationId xmlns:a16="http://schemas.microsoft.com/office/drawing/2014/main" id="{BAF23E5D-C19D-B2CC-6548-A09090F75A04}"/>
                    </a:ext>
                  </a:extLst>
                </p:cNvPr>
                <p:cNvSpPr/>
                <p:nvPr/>
              </p:nvSpPr>
              <p:spPr>
                <a:xfrm>
                  <a:off x="-201" y="161106"/>
                  <a:ext cx="1592750" cy="1412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blipFill>
                  <a:blip r:embed="rId5"/>
                  <a:stretch>
                    <a:fillRect l="-467" r="-46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endParaRPr lang="en-IN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" name="TextBox 31">
                <a:extLst>
                  <a:ext uri="{FF2B5EF4-FFF2-40B4-BE49-F238E27FC236}">
                    <a16:creationId xmlns:a16="http://schemas.microsoft.com/office/drawing/2014/main" id="{80AD15EA-9F37-03C7-33EA-A87EB22A946C}"/>
                  </a:ext>
                </a:extLst>
              </p:cNvPr>
              <p:cNvSpPr txBox="1"/>
              <p:nvPr/>
            </p:nvSpPr>
            <p:spPr>
              <a:xfrm>
                <a:off x="4506004" y="275822"/>
                <a:ext cx="7350294" cy="30406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>
                  <a:lnSpc>
                    <a:spcPts val="1855"/>
                  </a:lnSpc>
                  <a:spcAft>
                    <a:spcPts val="800"/>
                  </a:spcAft>
                  <a:buNone/>
                </a:pPr>
                <a:r>
                  <a:rPr lang="en-US" sz="2400" b="1" kern="1200" dirty="0">
                    <a:solidFill>
                      <a:schemeClr val="bg1"/>
                    </a:solidFill>
                    <a:effectLst/>
                    <a:latin typeface="Canva Sans Bold"/>
                    <a:ea typeface="Canva Sans Bold"/>
                    <a:cs typeface="Canva Sans Bold"/>
                  </a:rPr>
                  <a:t>SURESH ANGADI EDUCATION FOUNDATION’S</a:t>
                </a:r>
                <a:endParaRPr lang="en-IN" sz="20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unga" panose="020B0502040204020203" pitchFamily="34" charset="0"/>
                </a:endParaRPr>
              </a:p>
            </p:txBody>
          </p:sp>
          <p:sp>
            <p:nvSpPr>
              <p:cNvPr id="16" name="TextBox 32">
                <a:extLst>
                  <a:ext uri="{FF2B5EF4-FFF2-40B4-BE49-F238E27FC236}">
                    <a16:creationId xmlns:a16="http://schemas.microsoft.com/office/drawing/2014/main" id="{FB15C678-E0A0-C9F1-949B-4C1562B5BC12}"/>
                  </a:ext>
                </a:extLst>
              </p:cNvPr>
              <p:cNvSpPr txBox="1"/>
              <p:nvPr/>
            </p:nvSpPr>
            <p:spPr>
              <a:xfrm>
                <a:off x="1797532" y="472831"/>
                <a:ext cx="12769483" cy="48879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3500" b="1" kern="1200" dirty="0">
                    <a:solidFill>
                      <a:schemeClr val="bg1"/>
                    </a:solidFill>
                    <a:effectLst/>
                    <a:latin typeface="Canva Sans Bold"/>
                    <a:ea typeface="Canva Sans Bold"/>
                    <a:cs typeface="Canva Sans Bold"/>
                  </a:rPr>
                  <a:t>ANGADI INSTITUTE OF TECHNOLOGY AND MANAGEMENT</a:t>
                </a:r>
                <a:endParaRPr lang="en-IN" sz="35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unga" panose="020B0502040204020203" pitchFamily="34" charset="0"/>
                </a:endParaRPr>
              </a:p>
            </p:txBody>
          </p:sp>
          <p:sp>
            <p:nvSpPr>
              <p:cNvPr id="17" name="TextBox 33">
                <a:extLst>
                  <a:ext uri="{FF2B5EF4-FFF2-40B4-BE49-F238E27FC236}">
                    <a16:creationId xmlns:a16="http://schemas.microsoft.com/office/drawing/2014/main" id="{6F755856-E76C-808C-E17C-7E91E532B8B4}"/>
                  </a:ext>
                </a:extLst>
              </p:cNvPr>
              <p:cNvSpPr txBox="1"/>
              <p:nvPr/>
            </p:nvSpPr>
            <p:spPr>
              <a:xfrm>
                <a:off x="1035505" y="961622"/>
                <a:ext cx="14173714" cy="101055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>
                  <a:lnSpc>
                    <a:spcPct val="107000"/>
                  </a:lnSpc>
                  <a:buNone/>
                </a:pPr>
                <a:r>
                  <a:rPr lang="en-US" sz="2000" kern="1200" dirty="0">
                    <a:solidFill>
                      <a:schemeClr val="bg1"/>
                    </a:solidFill>
                    <a:effectLst/>
                    <a:latin typeface="Canva Sans Bold"/>
                    <a:ea typeface="Canva Sans Bold"/>
                    <a:cs typeface="Canva Sans Bold"/>
                  </a:rPr>
                  <a:t>Late. Dr. SURESH ANGADI MARG SAVGAON ROAD, BELAGAVI - 590009</a:t>
                </a:r>
                <a:endParaRPr lang="en-IN" sz="20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unga" panose="020B0502040204020203" pitchFamily="34" charset="0"/>
                </a:endParaRPr>
              </a:p>
              <a:p>
                <a:pPr algn="ctr">
                  <a:lnSpc>
                    <a:spcPct val="107000"/>
                  </a:lnSpc>
                  <a:buNone/>
                </a:pPr>
                <a:r>
                  <a:rPr lang="en-US" sz="2000" kern="1200" dirty="0">
                    <a:solidFill>
                      <a:schemeClr val="bg1"/>
                    </a:solidFill>
                    <a:effectLst/>
                    <a:latin typeface="Canva Sans Bold"/>
                    <a:ea typeface="Canva Sans Bold"/>
                    <a:cs typeface="Canva Sans Bold"/>
                  </a:rPr>
                  <a:t>(APPROVED BY AICTE, </a:t>
                </a:r>
                <a:r>
                  <a:rPr lang="en-US" sz="2000" kern="1200">
                    <a:solidFill>
                      <a:schemeClr val="bg1"/>
                    </a:solidFill>
                    <a:effectLst/>
                    <a:latin typeface="Canva Sans Bold"/>
                    <a:ea typeface="Canva Sans Bold"/>
                    <a:cs typeface="Canva Sans Bold"/>
                  </a:rPr>
                  <a:t>NEW DELHI</a:t>
                </a:r>
                <a:r>
                  <a:rPr lang="en-US" sz="2000" kern="1200" dirty="0">
                    <a:solidFill>
                      <a:schemeClr val="bg1"/>
                    </a:solidFill>
                    <a:effectLst/>
                    <a:latin typeface="Canva Sans Bold"/>
                    <a:ea typeface="Canva Sans Bold"/>
                    <a:cs typeface="Canva Sans Bold"/>
                  </a:rPr>
                  <a:t>, AFFILIATED TO VISVESVARAYA TECHNOLOGICAL UNIVERSITY, BELAGAVI)</a:t>
                </a:r>
                <a:endParaRPr lang="en-IN" sz="20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unga" panose="020B0502040204020203" pitchFamily="34" charset="0"/>
                </a:endParaRPr>
              </a:p>
              <a:p>
                <a:pPr algn="ctr">
                  <a:lnSpc>
                    <a:spcPct val="107000"/>
                  </a:lnSpc>
                  <a:buNone/>
                </a:pPr>
                <a:r>
                  <a:rPr lang="en-US" sz="2000" kern="1200" dirty="0">
                    <a:solidFill>
                      <a:schemeClr val="bg1"/>
                    </a:solidFill>
                    <a:effectLst/>
                    <a:latin typeface="Canva Sans Bold"/>
                    <a:ea typeface="Canva Sans Bold"/>
                    <a:cs typeface="Canva Sans Bold"/>
                  </a:rPr>
                  <a:t>(ACCREDITED BY NBA &amp; NAAC)</a:t>
                </a:r>
                <a:endParaRPr lang="en-IN" sz="20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unga" panose="020B0502040204020203" pitchFamily="34" charset="0"/>
                </a:endParaRPr>
              </a:p>
            </p:txBody>
          </p:sp>
        </p:grp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989181BF-F986-CDAC-DB88-F1AA54FE42C6}"/>
                </a:ext>
              </a:extLst>
            </p:cNvPr>
            <p:cNvSpPr txBox="1"/>
            <p:nvPr/>
          </p:nvSpPr>
          <p:spPr>
            <a:xfrm>
              <a:off x="1626107" y="2366963"/>
              <a:ext cx="13906852" cy="62328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4000" b="1" kern="100" dirty="0">
                  <a:solidFill>
                    <a:schemeClr val="bg1"/>
                  </a:solidFill>
                  <a:effectLst/>
                  <a:latin typeface="Bell MT" panose="02020503060305020303" pitchFamily="18" charset="0"/>
                  <a:ea typeface="Calibri" panose="020F0502020204030204" pitchFamily="34" charset="0"/>
                  <a:cs typeface="Tunga" panose="020B0502040204020203" pitchFamily="34" charset="0"/>
                </a:rPr>
                <a:t>Department of Electronics and Communication Engineering</a:t>
              </a:r>
              <a:endParaRPr lang="en-IN" sz="2000" kern="100" dirty="0">
                <a:solidFill>
                  <a:schemeClr val="bg1"/>
                </a:solidFill>
                <a:effectLst/>
                <a:latin typeface="Bell MT" panose="02020503060305020303" pitchFamily="18" charset="0"/>
                <a:ea typeface="Calibri" panose="020F0502020204030204" pitchFamily="34" charset="0"/>
                <a:cs typeface="Tunga" panose="020B0502040204020203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1741" y="140707"/>
            <a:ext cx="2434793" cy="1115568"/>
            <a:chOff x="0" y="0"/>
            <a:chExt cx="641262" cy="2938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1262" cy="293812"/>
            </a:xfrm>
            <a:custGeom>
              <a:avLst/>
              <a:gdLst/>
              <a:ahLst/>
              <a:cxnLst/>
              <a:rect l="l" t="t" r="r" b="b"/>
              <a:pathLst>
                <a:path w="641262" h="293812">
                  <a:moveTo>
                    <a:pt x="76313" y="0"/>
                  </a:moveTo>
                  <a:lnTo>
                    <a:pt x="564949" y="0"/>
                  </a:lnTo>
                  <a:cubicBezTo>
                    <a:pt x="585189" y="0"/>
                    <a:pt x="604599" y="8040"/>
                    <a:pt x="618911" y="22352"/>
                  </a:cubicBezTo>
                  <a:cubicBezTo>
                    <a:pt x="633222" y="36663"/>
                    <a:pt x="641262" y="56073"/>
                    <a:pt x="641262" y="76313"/>
                  </a:cubicBezTo>
                  <a:lnTo>
                    <a:pt x="641262" y="217499"/>
                  </a:lnTo>
                  <a:cubicBezTo>
                    <a:pt x="641262" y="237739"/>
                    <a:pt x="633222" y="257149"/>
                    <a:pt x="618911" y="271461"/>
                  </a:cubicBezTo>
                  <a:cubicBezTo>
                    <a:pt x="604599" y="285772"/>
                    <a:pt x="585189" y="293812"/>
                    <a:pt x="564949" y="293812"/>
                  </a:cubicBezTo>
                  <a:lnTo>
                    <a:pt x="76313" y="293812"/>
                  </a:lnTo>
                  <a:cubicBezTo>
                    <a:pt x="56073" y="293812"/>
                    <a:pt x="36663" y="285772"/>
                    <a:pt x="22352" y="271461"/>
                  </a:cubicBezTo>
                  <a:cubicBezTo>
                    <a:pt x="8040" y="257149"/>
                    <a:pt x="0" y="237739"/>
                    <a:pt x="0" y="217499"/>
                  </a:cubicBezTo>
                  <a:lnTo>
                    <a:pt x="0" y="76313"/>
                  </a:lnTo>
                  <a:cubicBezTo>
                    <a:pt x="0" y="56073"/>
                    <a:pt x="8040" y="36663"/>
                    <a:pt x="22352" y="22352"/>
                  </a:cubicBezTo>
                  <a:cubicBezTo>
                    <a:pt x="36663" y="8040"/>
                    <a:pt x="56073" y="0"/>
                    <a:pt x="76313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641262" cy="360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HACKHIVE 2K26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62451" y="249238"/>
            <a:ext cx="13845367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8013" y="3254870"/>
            <a:ext cx="14441391" cy="2325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9455" lvl="1" indent="-479727" algn="l">
              <a:lnSpc>
                <a:spcPts val="6221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What problem are you solving ?</a:t>
            </a:r>
          </a:p>
          <a:p>
            <a:pPr marL="959455" lvl="1" indent="-479727" algn="l">
              <a:lnSpc>
                <a:spcPts val="6221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Why is it important ?</a:t>
            </a:r>
          </a:p>
          <a:p>
            <a:pPr marL="959455" lvl="1" indent="-479727" algn="l">
              <a:lnSpc>
                <a:spcPts val="6221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Real - World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00015" y="159780"/>
            <a:ext cx="12150696" cy="422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PROPOSED SOLUTION</a:t>
            </a:r>
          </a:p>
          <a:p>
            <a:pPr algn="ctr">
              <a:lnSpc>
                <a:spcPts val="11200"/>
              </a:lnSpc>
            </a:pPr>
            <a:endParaRPr lang="en-US" sz="8000" b="1">
              <a:solidFill>
                <a:srgbClr val="FFFFFF"/>
              </a:solidFill>
              <a:latin typeface="TT Supermolot Neue Bold"/>
              <a:ea typeface="TT Supermolot Neue Bold"/>
              <a:cs typeface="TT Supermolot Neue Bold"/>
              <a:sym typeface="TT Supermolot Neue Bold"/>
            </a:endParaRPr>
          </a:p>
          <a:p>
            <a:pPr algn="ctr">
              <a:lnSpc>
                <a:spcPts val="11200"/>
              </a:lnSpc>
            </a:pPr>
            <a:endParaRPr lang="en-US" sz="8000" b="1">
              <a:solidFill>
                <a:srgbClr val="FFFFFF"/>
              </a:solidFill>
              <a:latin typeface="TT Supermolot Neue Bold"/>
              <a:ea typeface="TT Supermolot Neue Bold"/>
              <a:cs typeface="TT Supermolot Neue Bold"/>
              <a:sym typeface="TT Supermolot Neue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61204" y="2939382"/>
            <a:ext cx="10388688" cy="310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8596" lvl="1" indent="-479298" algn="l">
              <a:lnSpc>
                <a:spcPts val="6216"/>
              </a:lnSpc>
              <a:buFont typeface="Arial"/>
              <a:buChar char="•"/>
            </a:pPr>
            <a:r>
              <a:rPr lang="en-US" sz="4440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Explain</a:t>
            </a:r>
            <a:r>
              <a:rPr lang="en-US" sz="4440" u="none" strike="noStrik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your idea clearly.</a:t>
            </a:r>
          </a:p>
          <a:p>
            <a:pPr marL="958596" lvl="1" indent="-479298" algn="l">
              <a:lnSpc>
                <a:spcPts val="6216"/>
              </a:lnSpc>
              <a:buFont typeface="Arial"/>
              <a:buChar char="•"/>
            </a:pPr>
            <a:r>
              <a:rPr lang="en-US" sz="4440" u="none" strike="noStrik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How does it solve the problem.</a:t>
            </a:r>
          </a:p>
          <a:p>
            <a:pPr marL="958596" lvl="1" indent="-479298" algn="l">
              <a:lnSpc>
                <a:spcPts val="6216"/>
              </a:lnSpc>
              <a:buFont typeface="Arial"/>
              <a:buChar char="•"/>
            </a:pPr>
            <a:r>
              <a:rPr lang="en-US" sz="4440" u="none" strike="noStrik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What makes it different/innovative?</a:t>
            </a:r>
          </a:p>
          <a:p>
            <a:pPr algn="l">
              <a:lnSpc>
                <a:spcPts val="6216"/>
              </a:lnSpc>
            </a:pPr>
            <a:endParaRPr lang="en-US" sz="4440" u="none" strike="noStrike">
              <a:solidFill>
                <a:srgbClr val="FFFFFF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62321" y="140707"/>
            <a:ext cx="2353632" cy="1115568"/>
            <a:chOff x="0" y="0"/>
            <a:chExt cx="619887" cy="2938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9887" cy="293812"/>
            </a:xfrm>
            <a:custGeom>
              <a:avLst/>
              <a:gdLst/>
              <a:ahLst/>
              <a:cxnLst/>
              <a:rect l="l" t="t" r="r" b="b"/>
              <a:pathLst>
                <a:path w="619887" h="293812">
                  <a:moveTo>
                    <a:pt x="78944" y="0"/>
                  </a:moveTo>
                  <a:lnTo>
                    <a:pt x="540942" y="0"/>
                  </a:lnTo>
                  <a:cubicBezTo>
                    <a:pt x="584542" y="0"/>
                    <a:pt x="619887" y="35345"/>
                    <a:pt x="619887" y="78944"/>
                  </a:cubicBezTo>
                  <a:lnTo>
                    <a:pt x="619887" y="214868"/>
                  </a:lnTo>
                  <a:cubicBezTo>
                    <a:pt x="619887" y="235805"/>
                    <a:pt x="611569" y="255885"/>
                    <a:pt x="596764" y="270690"/>
                  </a:cubicBezTo>
                  <a:cubicBezTo>
                    <a:pt x="581959" y="285495"/>
                    <a:pt x="561880" y="293812"/>
                    <a:pt x="540942" y="293812"/>
                  </a:cubicBezTo>
                  <a:lnTo>
                    <a:pt x="78944" y="293812"/>
                  </a:lnTo>
                  <a:cubicBezTo>
                    <a:pt x="35345" y="293812"/>
                    <a:pt x="0" y="258468"/>
                    <a:pt x="0" y="214868"/>
                  </a:cubicBezTo>
                  <a:lnTo>
                    <a:pt x="0" y="78944"/>
                  </a:lnTo>
                  <a:cubicBezTo>
                    <a:pt x="0" y="35345"/>
                    <a:pt x="35345" y="0"/>
                    <a:pt x="78944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619887" cy="360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HACKHIVE 2K26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35482" y="-38462"/>
            <a:ext cx="14417037" cy="280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SYSTEM ARCHITECTURE,</a:t>
            </a:r>
          </a:p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TECHNOLOGY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9754" y="3680962"/>
            <a:ext cx="13259741" cy="3228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7519" lvl="1" indent="-498760" algn="l">
              <a:lnSpc>
                <a:spcPts val="6468"/>
              </a:lnSpc>
              <a:buFont typeface="Arial"/>
              <a:buChar char="•"/>
            </a:pPr>
            <a:r>
              <a:rPr lang="en-US" sz="4620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Flowcha</a:t>
            </a:r>
            <a:r>
              <a:rPr lang="en-US" sz="4620" u="none" strike="noStrik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rt</a:t>
            </a:r>
          </a:p>
          <a:p>
            <a:pPr marL="997519" lvl="1" indent="-498760" algn="l">
              <a:lnSpc>
                <a:spcPts val="6468"/>
              </a:lnSpc>
              <a:buFont typeface="Arial"/>
              <a:buChar char="•"/>
            </a:pPr>
            <a:r>
              <a:rPr lang="en-US" sz="4620" u="none" strike="noStrik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Programming Languages</a:t>
            </a:r>
          </a:p>
          <a:p>
            <a:pPr marL="997519" lvl="1" indent="-498760" algn="l">
              <a:lnSpc>
                <a:spcPts val="6468"/>
              </a:lnSpc>
              <a:buFont typeface="Arial"/>
              <a:buChar char="•"/>
            </a:pPr>
            <a:r>
              <a:rPr lang="en-US" sz="4620" u="none" strike="noStrik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Frameworks/tools used</a:t>
            </a:r>
          </a:p>
          <a:p>
            <a:pPr algn="l">
              <a:lnSpc>
                <a:spcPts val="6468"/>
              </a:lnSpc>
            </a:pPr>
            <a:endParaRPr lang="en-US" sz="4620" u="none" strike="noStrike">
              <a:solidFill>
                <a:srgbClr val="FFFFFF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82611" y="132988"/>
            <a:ext cx="2150731" cy="1115568"/>
            <a:chOff x="0" y="0"/>
            <a:chExt cx="566448" cy="2938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6448" cy="293812"/>
            </a:xfrm>
            <a:custGeom>
              <a:avLst/>
              <a:gdLst/>
              <a:ahLst/>
              <a:cxnLst/>
              <a:rect l="l" t="t" r="r" b="b"/>
              <a:pathLst>
                <a:path w="566448" h="293812">
                  <a:moveTo>
                    <a:pt x="86392" y="0"/>
                  </a:moveTo>
                  <a:lnTo>
                    <a:pt x="480056" y="0"/>
                  </a:lnTo>
                  <a:cubicBezTo>
                    <a:pt x="502968" y="0"/>
                    <a:pt x="524942" y="9102"/>
                    <a:pt x="541144" y="25304"/>
                  </a:cubicBezTo>
                  <a:cubicBezTo>
                    <a:pt x="557346" y="41505"/>
                    <a:pt x="566448" y="63479"/>
                    <a:pt x="566448" y="86392"/>
                  </a:cubicBezTo>
                  <a:lnTo>
                    <a:pt x="566448" y="207420"/>
                  </a:lnTo>
                  <a:cubicBezTo>
                    <a:pt x="566448" y="230333"/>
                    <a:pt x="557346" y="252307"/>
                    <a:pt x="541144" y="268508"/>
                  </a:cubicBezTo>
                  <a:cubicBezTo>
                    <a:pt x="524942" y="284710"/>
                    <a:pt x="502968" y="293812"/>
                    <a:pt x="480056" y="293812"/>
                  </a:cubicBezTo>
                  <a:lnTo>
                    <a:pt x="86392" y="293812"/>
                  </a:lnTo>
                  <a:cubicBezTo>
                    <a:pt x="63479" y="293812"/>
                    <a:pt x="41505" y="284710"/>
                    <a:pt x="25304" y="268508"/>
                  </a:cubicBezTo>
                  <a:cubicBezTo>
                    <a:pt x="9102" y="252307"/>
                    <a:pt x="0" y="230333"/>
                    <a:pt x="0" y="207420"/>
                  </a:cubicBezTo>
                  <a:lnTo>
                    <a:pt x="0" y="86392"/>
                  </a:lnTo>
                  <a:cubicBezTo>
                    <a:pt x="0" y="63479"/>
                    <a:pt x="9102" y="41505"/>
                    <a:pt x="25304" y="25304"/>
                  </a:cubicBezTo>
                  <a:cubicBezTo>
                    <a:pt x="41505" y="9102"/>
                    <a:pt x="63479" y="0"/>
                    <a:pt x="86392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566448" cy="360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HACKHIVE 2K26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35482" y="-30743"/>
            <a:ext cx="13686592" cy="280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IMPLEMENTATION,</a:t>
            </a:r>
          </a:p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DEMO/SCREENSHOT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0044" y="4059816"/>
            <a:ext cx="13066985" cy="310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8596" lvl="1" indent="-479298" algn="l">
              <a:lnSpc>
                <a:spcPts val="6216"/>
              </a:lnSpc>
              <a:buFont typeface="Arial"/>
              <a:buChar char="•"/>
            </a:pPr>
            <a:r>
              <a:rPr lang="en-US" sz="4440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How</a:t>
            </a:r>
            <a:r>
              <a:rPr lang="en-US" sz="4440" u="none" strike="noStrik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you built it ?</a:t>
            </a:r>
          </a:p>
          <a:p>
            <a:pPr marL="958596" lvl="1" indent="-479298" algn="l">
              <a:lnSpc>
                <a:spcPts val="6216"/>
              </a:lnSpc>
              <a:buFont typeface="Arial"/>
              <a:buChar char="•"/>
            </a:pPr>
            <a:r>
              <a:rPr lang="en-US" sz="4440" u="none" strike="noStrik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Key features</a:t>
            </a:r>
          </a:p>
          <a:p>
            <a:pPr marL="958596" lvl="1" indent="-479298" algn="l">
              <a:lnSpc>
                <a:spcPts val="6216"/>
              </a:lnSpc>
              <a:buFont typeface="Arial"/>
              <a:buChar char="•"/>
            </a:pPr>
            <a:r>
              <a:rPr lang="en-US" sz="4440" u="none" strike="noStrik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UI Images or working screenshots.</a:t>
            </a:r>
          </a:p>
          <a:p>
            <a:pPr algn="l">
              <a:lnSpc>
                <a:spcPts val="6216"/>
              </a:lnSpc>
            </a:pPr>
            <a:endParaRPr lang="en-US" sz="4440" u="none" strike="noStrike">
              <a:solidFill>
                <a:srgbClr val="FFFFFF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2321" y="140707"/>
            <a:ext cx="2353632" cy="1115568"/>
            <a:chOff x="0" y="0"/>
            <a:chExt cx="619887" cy="2938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19887" cy="293812"/>
            </a:xfrm>
            <a:custGeom>
              <a:avLst/>
              <a:gdLst/>
              <a:ahLst/>
              <a:cxnLst/>
              <a:rect l="l" t="t" r="r" b="b"/>
              <a:pathLst>
                <a:path w="619887" h="293812">
                  <a:moveTo>
                    <a:pt x="78944" y="0"/>
                  </a:moveTo>
                  <a:lnTo>
                    <a:pt x="540942" y="0"/>
                  </a:lnTo>
                  <a:cubicBezTo>
                    <a:pt x="584542" y="0"/>
                    <a:pt x="619887" y="35345"/>
                    <a:pt x="619887" y="78944"/>
                  </a:cubicBezTo>
                  <a:lnTo>
                    <a:pt x="619887" y="214868"/>
                  </a:lnTo>
                  <a:cubicBezTo>
                    <a:pt x="619887" y="235805"/>
                    <a:pt x="611569" y="255885"/>
                    <a:pt x="596764" y="270690"/>
                  </a:cubicBezTo>
                  <a:cubicBezTo>
                    <a:pt x="581959" y="285495"/>
                    <a:pt x="561880" y="293812"/>
                    <a:pt x="540942" y="293812"/>
                  </a:cubicBezTo>
                  <a:lnTo>
                    <a:pt x="78944" y="293812"/>
                  </a:lnTo>
                  <a:cubicBezTo>
                    <a:pt x="35345" y="293812"/>
                    <a:pt x="0" y="258468"/>
                    <a:pt x="0" y="214868"/>
                  </a:cubicBezTo>
                  <a:lnTo>
                    <a:pt x="0" y="78944"/>
                  </a:lnTo>
                  <a:cubicBezTo>
                    <a:pt x="0" y="35345"/>
                    <a:pt x="35345" y="0"/>
                    <a:pt x="78944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619887" cy="360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HACKHIVE 2K26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64466" y="527041"/>
            <a:ext cx="14802549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RESEARCH AND 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52557" y="4553438"/>
            <a:ext cx="12640893" cy="1544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8596" lvl="1" indent="-479298" algn="l">
              <a:lnSpc>
                <a:spcPts val="6216"/>
              </a:lnSpc>
              <a:buFont typeface="Arial"/>
              <a:buChar char="•"/>
            </a:pPr>
            <a:r>
              <a:rPr lang="en-US" sz="4440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D</a:t>
            </a:r>
            <a:r>
              <a:rPr lang="en-US" sz="4440" u="none" strike="noStrik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etails / Links of the reference</a:t>
            </a:r>
          </a:p>
          <a:p>
            <a:pPr algn="l">
              <a:lnSpc>
                <a:spcPts val="6216"/>
              </a:lnSpc>
            </a:pPr>
            <a:endParaRPr lang="en-US" sz="4440" u="none" strike="noStrike">
              <a:solidFill>
                <a:srgbClr val="FFFFFF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2321" y="140707"/>
            <a:ext cx="2353632" cy="1115568"/>
            <a:chOff x="0" y="0"/>
            <a:chExt cx="619887" cy="2938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19887" cy="293812"/>
            </a:xfrm>
            <a:custGeom>
              <a:avLst/>
              <a:gdLst/>
              <a:ahLst/>
              <a:cxnLst/>
              <a:rect l="l" t="t" r="r" b="b"/>
              <a:pathLst>
                <a:path w="619887" h="293812">
                  <a:moveTo>
                    <a:pt x="78944" y="0"/>
                  </a:moveTo>
                  <a:lnTo>
                    <a:pt x="540942" y="0"/>
                  </a:lnTo>
                  <a:cubicBezTo>
                    <a:pt x="584542" y="0"/>
                    <a:pt x="619887" y="35345"/>
                    <a:pt x="619887" y="78944"/>
                  </a:cubicBezTo>
                  <a:lnTo>
                    <a:pt x="619887" y="214868"/>
                  </a:lnTo>
                  <a:cubicBezTo>
                    <a:pt x="619887" y="235805"/>
                    <a:pt x="611569" y="255885"/>
                    <a:pt x="596764" y="270690"/>
                  </a:cubicBezTo>
                  <a:cubicBezTo>
                    <a:pt x="581959" y="285495"/>
                    <a:pt x="561880" y="293812"/>
                    <a:pt x="540942" y="293812"/>
                  </a:cubicBezTo>
                  <a:lnTo>
                    <a:pt x="78944" y="293812"/>
                  </a:lnTo>
                  <a:cubicBezTo>
                    <a:pt x="35345" y="293812"/>
                    <a:pt x="0" y="258468"/>
                    <a:pt x="0" y="214868"/>
                  </a:cubicBezTo>
                  <a:lnTo>
                    <a:pt x="0" y="78944"/>
                  </a:lnTo>
                  <a:cubicBezTo>
                    <a:pt x="0" y="35345"/>
                    <a:pt x="35345" y="0"/>
                    <a:pt x="78944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619887" cy="360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HACKHIVE 2K26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38402" y="3771015"/>
            <a:ext cx="10683653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THANK 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2321" y="140707"/>
            <a:ext cx="2353632" cy="1115568"/>
            <a:chOff x="0" y="0"/>
            <a:chExt cx="619887" cy="2938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9887" cy="293812"/>
            </a:xfrm>
            <a:custGeom>
              <a:avLst/>
              <a:gdLst/>
              <a:ahLst/>
              <a:cxnLst/>
              <a:rect l="l" t="t" r="r" b="b"/>
              <a:pathLst>
                <a:path w="619887" h="293812">
                  <a:moveTo>
                    <a:pt x="78944" y="0"/>
                  </a:moveTo>
                  <a:lnTo>
                    <a:pt x="540942" y="0"/>
                  </a:lnTo>
                  <a:cubicBezTo>
                    <a:pt x="584542" y="0"/>
                    <a:pt x="619887" y="35345"/>
                    <a:pt x="619887" y="78944"/>
                  </a:cubicBezTo>
                  <a:lnTo>
                    <a:pt x="619887" y="214868"/>
                  </a:lnTo>
                  <a:cubicBezTo>
                    <a:pt x="619887" y="235805"/>
                    <a:pt x="611569" y="255885"/>
                    <a:pt x="596764" y="270690"/>
                  </a:cubicBezTo>
                  <a:cubicBezTo>
                    <a:pt x="581959" y="285495"/>
                    <a:pt x="561880" y="293812"/>
                    <a:pt x="540942" y="293812"/>
                  </a:cubicBezTo>
                  <a:lnTo>
                    <a:pt x="78944" y="293812"/>
                  </a:lnTo>
                  <a:cubicBezTo>
                    <a:pt x="35345" y="293812"/>
                    <a:pt x="0" y="258468"/>
                    <a:pt x="0" y="214868"/>
                  </a:cubicBezTo>
                  <a:lnTo>
                    <a:pt x="0" y="78944"/>
                  </a:lnTo>
                  <a:cubicBezTo>
                    <a:pt x="0" y="35345"/>
                    <a:pt x="35345" y="0"/>
                    <a:pt x="78944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619887" cy="360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HACKHIVE 2K26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168</Words>
  <Application>Microsoft Office PowerPoint</Application>
  <PresentationFormat>Custom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Bell MT</vt:lpstr>
      <vt:lpstr>TT Supermolot Neue</vt:lpstr>
      <vt:lpstr>Arial</vt:lpstr>
      <vt:lpstr>TT Supermolot Neue Bold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Computers</dc:title>
  <dc:creator>Rahul Angadi</dc:creator>
  <cp:lastModifiedBy>Rahul Angadi</cp:lastModifiedBy>
  <cp:revision>5</cp:revision>
  <dcterms:created xsi:type="dcterms:W3CDTF">2006-08-16T00:00:00Z</dcterms:created>
  <dcterms:modified xsi:type="dcterms:W3CDTF">2026-05-06T08:59:15Z</dcterms:modified>
  <dc:identifier>DAHIbjsSRCI</dc:identifier>
</cp:coreProperties>
</file>